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85c364a4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85c364a4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5c364a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85c364a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5c364a4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5c364a4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85c364a4e_6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85c364a4e_6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5c364a4e_61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5c364a4e_6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5c364a4e_61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5c364a4e_61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5c364a4e_61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85c364a4e_61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jp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571500" y="1524000"/>
            <a:ext cx="38100" cy="1143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62000" y="142875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36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Sistema de Cadastro de Produtos</a:t>
            </a:r>
            <a:endParaRPr b="0" sz="336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PROJETO FINAL — ALGORITMOS II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571500" y="3056194"/>
            <a:ext cx="8001000" cy="1811750"/>
            <a:chOff x="571500" y="3619500"/>
            <a:chExt cx="8001000" cy="952500"/>
          </a:xfrm>
        </p:grpSpPr>
        <p:sp>
          <p:nvSpPr>
            <p:cNvPr id="58" name="Google Shape;58;p13"/>
            <p:cNvSpPr/>
            <p:nvPr/>
          </p:nvSpPr>
          <p:spPr>
            <a:xfrm>
              <a:off x="571500" y="3619500"/>
              <a:ext cx="8001000" cy="952500"/>
            </a:xfrm>
            <a:prstGeom prst="roundRect">
              <a:avLst>
                <a:gd fmla="val 12000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762000" y="37147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Integrantes</a:t>
              </a:r>
              <a:endParaRPr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Abner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Davi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Gabrielle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Samuel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Nome 5</a:t>
              </a:r>
              <a:endParaRPr b="0" sz="1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Objetivo do Projeto</a:t>
            </a:r>
            <a:endParaRPr b="1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381000" y="1333500"/>
            <a:ext cx="4095900" cy="3429000"/>
            <a:chOff x="381000" y="1333500"/>
            <a:chExt cx="4095900" cy="3429000"/>
          </a:xfrm>
        </p:grpSpPr>
        <p:sp>
          <p:nvSpPr>
            <p:cNvPr id="67" name="Google Shape;67;p14"/>
            <p:cNvSpPr/>
            <p:nvPr/>
          </p:nvSpPr>
          <p:spPr>
            <a:xfrm>
              <a:off x="381000" y="133350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571500" y="1524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Utilizar as t</a:t>
              </a:r>
              <a:r>
                <a:rPr b="1" lang="pt-BR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ecnologias: 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571500" y="2095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142875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18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08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C++</a:t>
              </a:r>
              <a:endParaRPr b="0" sz="108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5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Linguagem de alto desempenho</a:t>
              </a:r>
              <a:endParaRPr sz="85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142875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8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18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08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SQLite</a:t>
              </a:r>
              <a:endParaRPr b="0" sz="108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5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Banco de dados relacional leve</a:t>
              </a:r>
              <a:endParaRPr sz="85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142875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8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view_module</a:t>
              </a:r>
              <a:endParaRPr sz="18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08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Programação Modular</a:t>
              </a:r>
              <a:endParaRPr b="0" sz="108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5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Arquitetura organizada e escalável</a:t>
              </a:r>
              <a:endParaRPr sz="85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4667250" y="1333500"/>
            <a:ext cx="4095900" cy="3429000"/>
            <a:chOff x="4667250" y="1333500"/>
            <a:chExt cx="4095900" cy="3429000"/>
          </a:xfrm>
        </p:grpSpPr>
        <p:sp>
          <p:nvSpPr>
            <p:cNvPr id="71" name="Google Shape;71;p14"/>
            <p:cNvSpPr/>
            <p:nvPr/>
          </p:nvSpPr>
          <p:spPr>
            <a:xfrm>
              <a:off x="4667250" y="133350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857750" y="15240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Implementar f</a:t>
              </a:r>
              <a:r>
                <a:rPr b="1" lang="pt-BR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uncionalidades do Sistema (CRUD)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4887500" y="202255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Cadastrar produtos</a:t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list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Listar produtos</a:t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Atualizar produtos</a:t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delete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lang="pt-BR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Remover produtos</a:t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50" y="1333500"/>
            <a:ext cx="8412026" cy="34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42209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Organização dos Módulos</a:t>
            </a:r>
            <a:endParaRPr b="1" i="0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381000" y="1143000"/>
            <a:ext cx="8382000" cy="3428850"/>
            <a:chOff x="381000" y="1143000"/>
            <a:chExt cx="8382000" cy="3428850"/>
          </a:xfrm>
        </p:grpSpPr>
        <p:grpSp>
          <p:nvGrpSpPr>
            <p:cNvPr id="86" name="Google Shape;86;p16"/>
            <p:cNvGrpSpPr/>
            <p:nvPr/>
          </p:nvGrpSpPr>
          <p:grpSpPr>
            <a:xfrm>
              <a:off x="381000" y="1143000"/>
              <a:ext cx="2667000" cy="1619100"/>
              <a:chOff x="381000" y="1143000"/>
              <a:chExt cx="2667000" cy="1619100"/>
            </a:xfrm>
          </p:grpSpPr>
          <p:sp>
            <p:nvSpPr>
              <p:cNvPr id="87" name="Google Shape;87;p16"/>
              <p:cNvSpPr/>
              <p:nvPr/>
            </p:nvSpPr>
            <p:spPr>
              <a:xfrm>
                <a:off x="381000" y="114300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6"/>
              <p:cNvSpPr txBox="1"/>
              <p:nvPr/>
            </p:nvSpPr>
            <p:spPr>
              <a:xfrm>
                <a:off x="571500" y="133350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</a:t>
                </a: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ettings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main.cpp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Responsável por iniciar o sistema.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9" name="Google Shape;89;p16"/>
            <p:cNvGrpSpPr/>
            <p:nvPr/>
          </p:nvGrpSpPr>
          <p:grpSpPr>
            <a:xfrm>
              <a:off x="3238500" y="1143000"/>
              <a:ext cx="2667000" cy="1619100"/>
              <a:chOff x="3238500" y="1143000"/>
              <a:chExt cx="2667000" cy="1619100"/>
            </a:xfrm>
          </p:grpSpPr>
          <p:sp>
            <p:nvSpPr>
              <p:cNvPr id="90" name="Google Shape;90;p16"/>
              <p:cNvSpPr/>
              <p:nvPr/>
            </p:nvSpPr>
            <p:spPr>
              <a:xfrm>
                <a:off x="3238500" y="114300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3429000" y="133350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database/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Conexão com o banco SQLite.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2" name="Google Shape;92;p16"/>
            <p:cNvGrpSpPr/>
            <p:nvPr/>
          </p:nvGrpSpPr>
          <p:grpSpPr>
            <a:xfrm>
              <a:off x="6096000" y="1143000"/>
              <a:ext cx="2667000" cy="1619100"/>
              <a:chOff x="6096000" y="1143000"/>
              <a:chExt cx="2667000" cy="161910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6096000" y="114300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6"/>
              <p:cNvSpPr txBox="1"/>
              <p:nvPr/>
            </p:nvSpPr>
            <p:spPr>
              <a:xfrm>
                <a:off x="6286500" y="133350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schema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models/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Estruturas de dados do sistema.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5" name="Google Shape;95;p16"/>
            <p:cNvGrpSpPr/>
            <p:nvPr/>
          </p:nvGrpSpPr>
          <p:grpSpPr>
            <a:xfrm>
              <a:off x="381000" y="2952750"/>
              <a:ext cx="2667000" cy="1619100"/>
              <a:chOff x="381000" y="2952750"/>
              <a:chExt cx="2667000" cy="1619100"/>
            </a:xfrm>
          </p:grpSpPr>
          <p:sp>
            <p:nvSpPr>
              <p:cNvPr id="96" name="Google Shape;96;p16"/>
              <p:cNvSpPr/>
              <p:nvPr/>
            </p:nvSpPr>
            <p:spPr>
              <a:xfrm>
                <a:off x="381000" y="295275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 txBox="1"/>
              <p:nvPr/>
            </p:nvSpPr>
            <p:spPr>
              <a:xfrm>
                <a:off x="571500" y="31432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edit_note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crud/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Responsável pelas operações CRUD.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8" name="Google Shape;98;p16"/>
            <p:cNvGrpSpPr/>
            <p:nvPr/>
          </p:nvGrpSpPr>
          <p:grpSpPr>
            <a:xfrm>
              <a:off x="3238500" y="2952750"/>
              <a:ext cx="2667000" cy="1619100"/>
              <a:chOff x="3238500" y="2952750"/>
              <a:chExt cx="2667000" cy="1619100"/>
            </a:xfrm>
          </p:grpSpPr>
          <p:sp>
            <p:nvSpPr>
              <p:cNvPr id="99" name="Google Shape;99;p16"/>
              <p:cNvSpPr/>
              <p:nvPr/>
            </p:nvSpPr>
            <p:spPr>
              <a:xfrm>
                <a:off x="3238500" y="295275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6"/>
              <p:cNvSpPr txBox="1"/>
              <p:nvPr/>
            </p:nvSpPr>
            <p:spPr>
              <a:xfrm>
                <a:off x="3429000" y="31432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grid_view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ui/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Menus e interação com o usuário.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1" name="Google Shape;101;p16"/>
            <p:cNvGrpSpPr/>
            <p:nvPr/>
          </p:nvGrpSpPr>
          <p:grpSpPr>
            <a:xfrm>
              <a:off x="6096000" y="2952750"/>
              <a:ext cx="2667000" cy="1619100"/>
              <a:chOff x="6096000" y="2952750"/>
              <a:chExt cx="2667000" cy="1619100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6096000" y="2952750"/>
                <a:ext cx="26670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6"/>
              <p:cNvSpPr txBox="1"/>
              <p:nvPr/>
            </p:nvSpPr>
            <p:spPr>
              <a:xfrm>
                <a:off x="6286500" y="31432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inventory_2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pt-BR" sz="14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sqlite/</a:t>
                </a:r>
                <a:endParaRPr b="1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pt-BR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Biblioteca SQLite embutida.</a:t>
                </a:r>
                <a:endParaRPr b="0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143000"/>
            <a:ext cx="8381999" cy="34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Modelagem do Banco</a:t>
            </a:r>
            <a:endParaRPr b="1" i="0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381000" y="1333500"/>
            <a:ext cx="8382000" cy="3429000"/>
            <a:chOff x="381000" y="1333500"/>
            <a:chExt cx="8382000" cy="3429000"/>
          </a:xfrm>
        </p:grpSpPr>
        <p:sp>
          <p:nvSpPr>
            <p:cNvPr id="112" name="Google Shape;112;p17"/>
            <p:cNvSpPr/>
            <p:nvPr/>
          </p:nvSpPr>
          <p:spPr>
            <a:xfrm>
              <a:off x="381000" y="1333500"/>
              <a:ext cx="8382000" cy="3429000"/>
            </a:xfrm>
            <a:prstGeom prst="roundRect">
              <a:avLst>
                <a:gd fmla="val 33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666750" y="1619250"/>
              <a:ext cx="3333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50">
                  <a:solidFill>
                    <a:schemeClr val="dk1"/>
                  </a:solidFill>
                </a:rPr>
                <a:t>Tabela Produto:</a:t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213">
                  <a:solidFill>
                    <a:schemeClr val="dk1"/>
                  </a:solidFill>
                </a:rPr>
                <a:t>A estrutura do banco de dados SQLite foi projetada para armazenar de forma eficiente as informações dos itens cadastrados.</a:t>
              </a:r>
              <a:endParaRPr sz="1213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id:</a:t>
              </a:r>
              <a:r>
                <a:rPr lang="pt-BR" sz="1200">
                  <a:solidFill>
                    <a:schemeClr val="dk1"/>
                  </a:solidFill>
                </a:rPr>
                <a:t> Chave Primária (PK)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nome:</a:t>
              </a:r>
              <a:r>
                <a:rPr lang="pt-BR" sz="1200">
                  <a:solidFill>
                    <a:schemeClr val="dk1"/>
                  </a:solidFill>
                </a:rPr>
                <a:t> Texto (TEXT)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preço</a:t>
              </a:r>
              <a:r>
                <a:rPr b="1" lang="pt-BR" sz="1200">
                  <a:solidFill>
                    <a:schemeClr val="dk1"/>
                  </a:solidFill>
                </a:rPr>
                <a:t>:</a:t>
              </a:r>
              <a:r>
                <a:rPr lang="pt-BR" sz="1200">
                  <a:solidFill>
                    <a:schemeClr val="dk1"/>
                  </a:solidFill>
                </a:rPr>
                <a:t> Real (REAL)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7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</a:rPr>
                <a:t>quantidade:</a:t>
              </a:r>
              <a:r>
                <a:rPr lang="pt-BR" sz="1200">
                  <a:solidFill>
                    <a:schemeClr val="dk1"/>
                  </a:solidFill>
                </a:rPr>
                <a:t> Inteiro (INTEGER)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5034" y="1670859"/>
            <a:ext cx="2985925" cy="24910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Fluxo do Sistema</a:t>
            </a:r>
            <a:endParaRPr b="1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1" name="Google Shape;121;p18"/>
          <p:cNvGrpSpPr/>
          <p:nvPr/>
        </p:nvGrpSpPr>
        <p:grpSpPr>
          <a:xfrm>
            <a:off x="440482" y="1333650"/>
            <a:ext cx="3083357" cy="3619500"/>
            <a:chOff x="381000" y="1333500"/>
            <a:chExt cx="1524000" cy="3619500"/>
          </a:xfrm>
        </p:grpSpPr>
        <p:sp>
          <p:nvSpPr>
            <p:cNvPr id="122" name="Google Shape;122;p18"/>
            <p:cNvSpPr/>
            <p:nvPr/>
          </p:nvSpPr>
          <p:spPr>
            <a:xfrm>
              <a:off x="381000" y="1333500"/>
              <a:ext cx="1524000" cy="36195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523875" y="1476375"/>
              <a:ext cx="1238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Lógica do App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 diagrama ilustra o ciclo de vida da execução: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Início e conexão com SQLite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Exibição do menu principal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Seleção de operações CRUD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Retorno ao menu ou encerramento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4" name="Google Shape;124;p18"/>
          <p:cNvSpPr/>
          <p:nvPr/>
        </p:nvSpPr>
        <p:spPr>
          <a:xfrm>
            <a:off x="3930600" y="285750"/>
            <a:ext cx="4953000" cy="46674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0600" y="443471"/>
            <a:ext cx="4837150" cy="43519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Persistência de Dados</a:t>
            </a:r>
            <a:endParaRPr b="1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2" name="Google Shape;132;p19"/>
          <p:cNvGrpSpPr/>
          <p:nvPr/>
        </p:nvGrpSpPr>
        <p:grpSpPr>
          <a:xfrm>
            <a:off x="381000" y="1333500"/>
            <a:ext cx="8382000" cy="3429000"/>
            <a:chOff x="381000" y="1333500"/>
            <a:chExt cx="8382000" cy="3429000"/>
          </a:xfrm>
        </p:grpSpPr>
        <p:sp>
          <p:nvSpPr>
            <p:cNvPr id="133" name="Google Shape;133;p19"/>
            <p:cNvSpPr/>
            <p:nvPr/>
          </p:nvSpPr>
          <p:spPr>
            <a:xfrm>
              <a:off x="381000" y="1333500"/>
              <a:ext cx="8382000" cy="3429000"/>
            </a:xfrm>
            <a:prstGeom prst="roundRect">
              <a:avLst>
                <a:gd fmla="val 3333" name="adj"/>
              </a:avLst>
            </a:prstGeom>
            <a:solidFill>
              <a:srgbClr val="1E293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666750" y="1619250"/>
              <a:ext cx="3810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2842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Armazenamento Local</a:t>
              </a:r>
              <a:endParaRPr b="1" sz="12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Os dados são armazenados localmente em: </a:t>
              </a:r>
              <a:r>
                <a:rPr b="1" lang="pt-BR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sistema.db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Benefícios Principais</a:t>
              </a:r>
              <a:endParaRPr b="1" sz="12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Manutenção dos dados após fechar o programa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Capacidade de realizar consultas SQL complexas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b="0" lang="pt-BR" sz="12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Simplificação extrema do fluxo de armazenamento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5133975" y="1609725"/>
            <a:ext cx="2876700" cy="2876700"/>
            <a:chOff x="5133975" y="1609725"/>
            <a:chExt cx="2876700" cy="2876700"/>
          </a:xfrm>
        </p:grpSpPr>
        <p:pic>
          <p:nvPicPr>
            <p:cNvPr descr="A high-tech, 3D stylized representation of a database server or a digital storage icon, glowing with soft blue neon light, set against a dark minimalist background, professional tech aesthetic." id="136" name="Google Shape;13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43500" y="1619250"/>
              <a:ext cx="2857500" cy="2857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pic>
          <p:nvPicPr>
            <p:cNvPr id="137" name="Google Shape;13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3975" y="1609725"/>
              <a:ext cx="2876700" cy="287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Compatibilidade</a:t>
            </a:r>
            <a:endParaRPr b="1" sz="3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381000" y="1428750"/>
            <a:ext cx="4048200" cy="3238500"/>
            <a:chOff x="381000" y="1428750"/>
            <a:chExt cx="4048200" cy="3238500"/>
          </a:xfrm>
        </p:grpSpPr>
        <p:sp>
          <p:nvSpPr>
            <p:cNvPr id="145" name="Google Shape;145;p20"/>
            <p:cNvSpPr/>
            <p:nvPr/>
          </p:nvSpPr>
          <p:spPr>
            <a:xfrm>
              <a:off x="381000" y="1428750"/>
              <a:ext cx="4048200" cy="3238500"/>
            </a:xfrm>
            <a:prstGeom prst="roundRect">
              <a:avLst>
                <a:gd fmla="val 3529" name="adj"/>
              </a:avLst>
            </a:prstGeom>
            <a:solidFill>
              <a:srgbClr val="1E293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619125" y="1666875"/>
              <a:ext cx="3571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Incorporação Direta</a:t>
              </a:r>
              <a:endParaRPr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 SQLite foi integrado ao projeto utilizando os arquivos fonte originais, eliminando dependências externas.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60A5FA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pt-BR">
                  <a:solidFill>
                    <a:srgbClr val="60A5FA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pt-BR">
                  <a:solidFill>
                    <a:srgbClr val="60A5FA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sqlite3.c</a:t>
              </a:r>
              <a:endParaRPr b="1">
                <a:solidFill>
                  <a:srgbClr val="60A5FA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60A5FA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sqlite3.h</a:t>
              </a:r>
              <a:endParaRPr b="1">
                <a:solidFill>
                  <a:srgbClr val="60A5FA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7" name="Google Shape;147;p20"/>
          <p:cNvGrpSpPr/>
          <p:nvPr/>
        </p:nvGrpSpPr>
        <p:grpSpPr>
          <a:xfrm>
            <a:off x="4714875" y="1428750"/>
            <a:ext cx="4048200" cy="3238500"/>
            <a:chOff x="4714875" y="1428750"/>
            <a:chExt cx="4048200" cy="3238500"/>
          </a:xfrm>
        </p:grpSpPr>
        <p:sp>
          <p:nvSpPr>
            <p:cNvPr id="148" name="Google Shape;148;p20"/>
            <p:cNvSpPr/>
            <p:nvPr/>
          </p:nvSpPr>
          <p:spPr>
            <a:xfrm>
              <a:off x="4714875" y="1428750"/>
              <a:ext cx="4048200" cy="3238500"/>
            </a:xfrm>
            <a:prstGeom prst="roundRect">
              <a:avLst>
                <a:gd fmla="val 3529" name="adj"/>
              </a:avLst>
            </a:prstGeom>
            <a:solidFill>
              <a:srgbClr val="1E293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0"/>
            <p:cNvSpPr txBox="1"/>
            <p:nvPr/>
          </p:nvSpPr>
          <p:spPr>
            <a:xfrm>
              <a:off x="4953000" y="1666875"/>
              <a:ext cx="3571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Suporte Multiplataforma</a:t>
              </a:r>
              <a:endParaRPr b="1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pt-BR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Garantia de funcionamento e compilação simplificada nos ambientes: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142875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pt-BR" sz="2800">
                  <a:solidFill>
                    <a:srgbClr val="F1F5F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800">
                <a:solidFill>
                  <a:srgbClr val="F1F5F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800">
                  <a:solidFill>
                    <a:srgbClr val="F1F5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Linux</a:t>
              </a:r>
              <a:endParaRPr b="0" sz="18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142875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2800">
                  <a:solidFill>
                    <a:srgbClr val="F1F5F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window  </a:t>
              </a:r>
              <a:endParaRPr sz="2800">
                <a:solidFill>
                  <a:srgbClr val="F1F5F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marR="142875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800">
                  <a:solidFill>
                    <a:srgbClr val="F1F5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Windows</a:t>
              </a:r>
              <a:endParaRPr b="0" sz="18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876" y="1414724"/>
            <a:ext cx="4048200" cy="326655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